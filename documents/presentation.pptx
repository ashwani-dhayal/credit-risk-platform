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>
                <a:solidFill>
                  <a:srgbClr val="1F77B4"/>
                </a:solidFill>
              </a:rPr>
              <a:t>AI-Powered Credit Risk Intelligence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NeoStats AI Engineer Assignment —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• Dataset: Home Credit Default Risk (Kaggle)</a:t>
            </a:r>
          </a:p>
          <a:p>
            <a:r>
              <a:rPr sz="1600"/>
              <a:t>• Stack: Python 3.11, LightGBM, SHAP, Streamlit, SQLite, Docker</a:t>
            </a:r>
          </a:p>
          <a:p>
            <a:r>
              <a:rPr sz="1600"/>
              <a:t>• LLM: Multi-provider (OpenAI / Groq / Gemini) + deterministic fallback</a:t>
            </a:r>
          </a:p>
          <a:p>
            <a:r>
              <a:rPr sz="1600"/>
              <a:t>• Author: Ashwani Dhayal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F77B4"/>
                </a:solidFill>
              </a:rP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/>
              <a:t>Banks must make faster, more accurate, and explainable credit decisions.</a:t>
            </a:r>
          </a:p>
          <a:p>
            <a:r>
              <a:rPr sz="1800"/>
              <a:t>Identify high-risk applicants early and automate risk scoring.</a:t>
            </a:r>
          </a:p>
          <a:p>
            <a:r>
              <a:rPr sz="1800"/>
              <a:t>Provide auditable, regulator-friendly reasons for every decision.</a:t>
            </a:r>
          </a:p>
          <a:p>
            <a:r>
              <a:rPr sz="1800"/>
              <a:t>Let business analysts explore the portfolio in plain English.</a:t>
            </a:r>
          </a:p>
          <a:p>
            <a:r>
              <a:rPr sz="1800"/>
              <a:t>Bridge ML insights and credit policy through readable rules.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F77B4"/>
                </a:solidFill>
              </a:rPr>
              <a:t>Solution at a Glance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/>
              <a:t>End-to-end platform: EDA → ML → Explainability → Rules → Chatbot.</a:t>
            </a:r>
          </a:p>
          <a:p>
            <a:r>
              <a:rPr sz="1800"/>
              <a:t>Single Streamlit UI with 6 sections; one Docker command to run.</a:t>
            </a:r>
          </a:p>
          <a:p>
            <a:r>
              <a:rPr sz="1800"/>
              <a:t>ML model returns probability + Low/Medium/High band + Decision.</a:t>
            </a:r>
          </a:p>
          <a:p>
            <a:r>
              <a:rPr sz="1800"/>
              <a:t>SHAP TreeExplainer attributes every score to ranked feature drivers.</a:t>
            </a:r>
          </a:p>
          <a:p>
            <a:r>
              <a:rPr sz="1800"/>
              <a:t>Talk-to-Data agent translates English to safe, read-only SQLite SQL.</a:t>
            </a:r>
          </a:p>
          <a:p>
            <a:r>
              <a:rPr sz="1800"/>
              <a:t>Decision-tree rules give credit officers an audit-ready policy view.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F77B4"/>
                </a:solidFill>
              </a:rPr>
              <a:t>Architecture (logical 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/>
              <a:t>Streamlit UI (app/streamlit_app.py) — multi-section navigation.</a:t>
            </a:r>
          </a:p>
          <a:p>
            <a:r>
              <a:rPr sz="1800"/>
              <a:t>src/ml: LightGBM training / inference / SHAP TreeExplainer.</a:t>
            </a:r>
          </a:p>
          <a:p>
            <a:r>
              <a:rPr sz="1800"/>
              <a:t>src/rules: depth-4 decision tree → human-readable IF-THEN rules.</a:t>
            </a:r>
          </a:p>
          <a:p>
            <a:r>
              <a:rPr sz="1800"/>
              <a:t>src/data: schema, sample generator, CSV → SQLite ingestion.</a:t>
            </a:r>
          </a:p>
          <a:p>
            <a:r>
              <a:rPr sz="1800"/>
              <a:t>src/llm: OpenAI / Groq / Gemini auto-detect + safe NL→SQL agent.</a:t>
            </a:r>
          </a:p>
          <a:p>
            <a:r>
              <a:rPr sz="1800"/>
              <a:t>src/utils/sql_safety: read-only SELECT guardrails (no DDL/DML).</a:t>
            </a:r>
          </a:p>
          <a:p>
            <a:r>
              <a:rPr sz="1800"/>
              <a:t>Single SQLite DB is the source of truth for ML and the chatbot.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F77B4"/>
                </a:solidFill>
              </a:rPr>
              <a:t>UI · Overview Section</a:t>
            </a:r>
          </a:p>
        </p:txBody>
      </p:sp>
      <p:pic>
        <p:nvPicPr>
          <p:cNvPr id="3" name="Picture 2" descr="01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653" y="1463040"/>
            <a:ext cx="6028389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/>
              <a:t>Live KPIs of the platform: 10,000 applicants, 8% default rate, 28 features after engineering, model ROC-AUC 0.895. The sidebar shows the active LLM provider and the loaded model artifact.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F77B4"/>
                </a:solidFill>
              </a:rPr>
              <a:t>UI · Exploratory Data Analysis</a:t>
            </a:r>
          </a:p>
        </p:txBody>
      </p:sp>
      <p:pic>
        <p:nvPicPr>
          <p:cNvPr id="3" name="Picture 2" descr="02_e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653" y="1463040"/>
            <a:ext cx="6028389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/>
              <a:t>Four EDA tabs: Summary, Demographics, Financials, Default Drivers. Distributions are split by default status; the table on the right shows missingness for the most-affected columns.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F77B4"/>
                </a:solidFill>
              </a:rPr>
              <a:t>UI · Risk Prediction</a:t>
            </a:r>
          </a:p>
        </p:txBody>
      </p:sp>
      <p:pic>
        <p:nvPicPr>
          <p:cNvPr id="3" name="Picture 2" descr="03_pred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653" y="1463040"/>
            <a:ext cx="6028389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/>
              <a:t>Form-driven applicant scoring. Output: probability of default + risk band (Low / Medium / High) + suggested decision (Approve / Review / Reject). Sample shown: P(default)=0.06% → Low → Approve.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F77B4"/>
                </a:solidFill>
              </a:rPr>
              <a:t>UI · Explainability (SHAP)</a:t>
            </a:r>
          </a:p>
        </p:txBody>
      </p:sp>
      <p:pic>
        <p:nvPicPr>
          <p:cNvPr id="3" name="Picture 2" descr="04_ex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653" y="1463040"/>
            <a:ext cx="6028389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/>
              <a:t>Per-applicant top SHAP contributors. Bars going right increase predicted default probability; bars going left decrease it. The table below shows the exact feature values and SHAP magnitudes.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F77B4"/>
                </a:solidFill>
              </a:rPr>
              <a:t>UI · Decision Rules</a:t>
            </a:r>
          </a:p>
        </p:txBody>
      </p:sp>
      <p:pic>
        <p:nvPicPr>
          <p:cNvPr id="3" name="Picture 2" descr="05_r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653" y="1463040"/>
            <a:ext cx="6028389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/>
              <a:t>Business-readable IF-THEN rules derived from a depth-4 decision tree. Each row reports support (% of population), default rate inside the leaf, and lift vs. the 8% base rate.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F77B4"/>
                </a:solidFill>
              </a:rPr>
              <a:t>UI · Talk-to-Data Chatbot</a:t>
            </a:r>
          </a:p>
        </p:txBody>
      </p:sp>
      <p:pic>
        <p:nvPicPr>
          <p:cNvPr id="3" name="Picture 2" descr="06_chat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653" y="1463040"/>
            <a:ext cx="6028389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/>
              <a:t>User asks a plain-English question; the agent emits a safe SELECT, runs it on SQLite, and summarises the rows. The generated SQL is exposed for full transparency. Falls back to a deterministic intent parser when no LLM key is set.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F77B4"/>
                </a:solidFill>
              </a:rPr>
              <a:t>Backend · ML Training (src/ml/train.py)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555555"/>
                </a:solidFill>
              </a:rPr>
              <a:t>LightGBM with scale_pos_weight for class imbalance, threshold chosen by Youden's J on the validation set.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77295" cy="4754880"/>
          </a:xfrm>
          <a:prstGeom prst="rect">
            <a:avLst/>
          </a:prstGeom>
          <a:solidFill>
            <a:srgbClr val="F6F8FA"/>
          </a:solidFill>
        </p:spPr>
        <p:txBody>
          <a:bodyPr wrap="square" lIns="101600" rIns="101600" tIns="101600" bIns="101600">
            <a:spAutoFit/>
          </a:bodyPr>
          <a:lstStyle/>
          <a:p>
            <a:r>
              <a:rPr sz="1100">
                <a:latin typeface="Consolas"/>
              </a:rPr>
              <a:t>    pos_weight = float((y_train == 0).sum() / max((y_train == 1).sum(), 1))</a:t>
            </a:r>
          </a:p>
          <a:p/>
          <a:p>
            <a:r>
              <a:rPr sz="1100">
                <a:latin typeface="Consolas"/>
              </a:rPr>
              <a:t>    lgbm = LGBMClassifier(</a:t>
            </a:r>
          </a:p>
          <a:p>
            <a:r>
              <a:rPr sz="1100">
                <a:latin typeface="Consolas"/>
              </a:rPr>
              <a:t>        n_estimators=400,</a:t>
            </a:r>
          </a:p>
          <a:p>
            <a:r>
              <a:rPr sz="1100">
                <a:latin typeface="Consolas"/>
              </a:rPr>
              <a:t>        learning_rate=0.05,</a:t>
            </a:r>
          </a:p>
          <a:p>
            <a:r>
              <a:rPr sz="1100">
                <a:latin typeface="Consolas"/>
              </a:rPr>
              <a:t>        num_leaves=31,</a:t>
            </a:r>
          </a:p>
          <a:p>
            <a:r>
              <a:rPr sz="1100">
                <a:latin typeface="Consolas"/>
              </a:rPr>
              <a:t>        max_depth=-1,</a:t>
            </a:r>
          </a:p>
          <a:p>
            <a:r>
              <a:rPr sz="1100">
                <a:latin typeface="Consolas"/>
              </a:rPr>
              <a:t>        min_child_samples=40,</a:t>
            </a:r>
          </a:p>
          <a:p>
            <a:r>
              <a:rPr sz="1100">
                <a:latin typeface="Consolas"/>
              </a:rPr>
              <a:t>        reg_alpha=0.1,</a:t>
            </a:r>
          </a:p>
          <a:p>
            <a:r>
              <a:rPr sz="1100">
                <a:latin typeface="Consolas"/>
              </a:rPr>
              <a:t>        reg_lambda=0.1,</a:t>
            </a:r>
          </a:p>
          <a:p>
            <a:r>
              <a:rPr sz="1100">
                <a:latin typeface="Consolas"/>
              </a:rPr>
              <a:t>        subsample=0.85,</a:t>
            </a:r>
          </a:p>
          <a:p>
            <a:r>
              <a:rPr sz="1100">
                <a:latin typeface="Consolas"/>
              </a:rPr>
              <a:t>        colsample_bytree=0.85,</a:t>
            </a:r>
          </a:p>
          <a:p>
            <a:r>
              <a:rPr sz="1100">
                <a:latin typeface="Consolas"/>
              </a:rPr>
              <a:t>        scale_pos_weight=pos_weight,</a:t>
            </a:r>
          </a:p>
          <a:p>
            <a:r>
              <a:rPr sz="1100">
                <a:latin typeface="Consolas"/>
              </a:rPr>
              <a:t>        random_state=random_state,</a:t>
            </a:r>
          </a:p>
          <a:p>
            <a:r>
              <a:rPr sz="1100">
                <a:latin typeface="Consolas"/>
              </a:rPr>
              <a:t>        n_jobs=-1,</a:t>
            </a:r>
          </a:p>
          <a:p>
            <a:r>
              <a:rPr sz="1100">
                <a:latin typeface="Consolas"/>
              </a:rPr>
              <a:t>        verbose=-1,</a:t>
            </a:r>
          </a:p>
          <a:p>
            <a:r>
              <a:rPr sz="1100">
                <a:latin typeface="Consolas"/>
              </a:rPr>
              <a:t>    )</a:t>
            </a:r>
          </a:p>
          <a:p/>
          <a:p>
            <a:r>
              <a:rPr sz="1100">
                <a:latin typeface="Consolas"/>
              </a:rPr>
              <a:t>    pipeline = Pipeline(steps=[</a:t>
            </a:r>
          </a:p>
          <a:p>
            <a:r>
              <a:rPr sz="1100">
                <a:latin typeface="Consolas"/>
              </a:rPr>
              <a:t>        ("preprocessor", preprocessor),</a:t>
            </a:r>
          </a:p>
          <a:p>
            <a:r>
              <a:rPr sz="1100">
                <a:latin typeface="Consolas"/>
              </a:rPr>
              <a:t>        ("classifier", lgbm),</a:t>
            </a:r>
          </a:p>
          <a:p>
            <a:r>
              <a:rPr sz="1100">
                <a:latin typeface="Consolas"/>
              </a:rPr>
              <a:t>    ])</a:t>
            </a:r>
          </a:p>
          <a:p>
            <a:r>
              <a:rPr sz="1100">
                <a:latin typeface="Consolas"/>
              </a:rPr>
              <a:t>    pipeline.fit(X_train, y_train)</a:t>
            </a:r>
          </a:p>
          <a:p/>
          <a:p>
            <a:r>
              <a:rPr sz="1100">
                <a:latin typeface="Consolas"/>
              </a:rPr>
              <a:t>    proba_val = pipeline.predict_proba(X_val)[:, 1]</a:t>
            </a:r>
          </a:p>
          <a:p>
            <a:r>
              <a:rPr sz="1100">
                <a:latin typeface="Consolas"/>
              </a:rPr>
              <a:t>    auc = float(roc_auc_score(y_val, proba_val))</a:t>
            </a:r>
          </a:p>
          <a:p>
            <a:r>
              <a:rPr sz="1100">
                <a:latin typeface="Consolas"/>
              </a:rPr>
              <a:t>    pr_auc = float(average_precision_score(y_val, proba_val))</a:t>
            </a:r>
          </a:p>
          <a:p>
            <a:r>
              <a:rPr sz="1100">
                <a:latin typeface="Consolas"/>
              </a:rPr>
              <a:t>    ks = _ks_statistic(y_val, proba_val)</a:t>
            </a:r>
          </a:p>
          <a:p/>
          <a:p>
            <a:r>
              <a:rPr sz="1100">
                <a:latin typeface="Consolas"/>
              </a:rPr>
              <a:t>    # Pick the threshold that maximises Youden's J on the validation set.</a:t>
            </a:r>
          </a:p>
          <a:p>
            <a:r>
              <a:rPr sz="1100">
                <a:latin typeface="Consolas"/>
              </a:rPr>
              <a:t>    fpr, tpr, thresholds = roc_curve(y_val, proba_val)</a:t>
            </a:r>
          </a:p>
          <a:p>
            <a:r>
              <a:rPr sz="1100">
                <a:latin typeface="Consolas"/>
              </a:rPr>
              <a:t>    j = tpr - fpr</a:t>
            </a:r>
          </a:p>
          <a:p>
            <a:r>
              <a:rPr sz="1100">
                <a:latin typeface="Consolas"/>
              </a:rPr>
              <a:t>    best_idx = int(np.argmax(j))</a:t>
            </a:r>
          </a:p>
          <a:p>
            <a:r>
              <a:rPr sz="1100">
                <a:latin typeface="Consolas"/>
              </a:rPr>
              <a:t>    best_threshold = float(thresholds[best_idx])</a:t>
            </a:r>
          </a:p>
          <a:p>
            <a:r>
              <a:rPr sz="1100">
                <a:latin typeface="Consolas"/>
              </a:rPr>
              <a:t>    preds = (proba_val &gt;= best_threshold).astype(int)</a:t>
            </a:r>
          </a:p>
          <a:p>
            <a:r>
              <a:rPr sz="1100">
                <a:latin typeface="Consolas"/>
              </a:rPr>
              <a:t>    f1 = float(f1_score(y_val, preds))</a:t>
            </a:r>
          </a:p>
          <a:p>
            <a:r>
              <a:rPr sz="1100">
                <a:latin typeface="Consolas"/>
              </a:rPr>
              <a:t>    cm = confusion_matrix(y_val, preds).tolist()</a:t>
            </a:r>
          </a:p>
          <a:p/>
          <a:p>
            <a:r>
              <a:rPr sz="1100">
                <a:latin typeface="Consolas"/>
              </a:rPr>
              <a:t>    feat_names = get_feature_names_out(pipeline.named_steps["preprocessor"])</a:t>
            </a:r>
          </a:p>
          <a:p>
            <a:r>
              <a:rPr sz="1100">
                <a:latin typeface="Consolas"/>
              </a:rPr>
              <a:t>    importances_arr = pipeline.named_steps["classifier"].feature_importances_</a:t>
            </a:r>
          </a:p>
          <a:p>
            <a:r>
              <a:rPr sz="1100">
                <a:latin typeface="Consolas"/>
              </a:rPr>
              <a:t>    importances = dict(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F77B4"/>
                </a:solidFill>
              </a:rPr>
              <a:t>Backend · NL → SQL Agent (src/llm/nl_to_sql.py)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555555"/>
                </a:solidFill>
              </a:rPr>
              <a:t>Pipeline: prompt LLM → parse JSON → static safety check → read-only execute → second LLM call grounds the summary in rows.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77295" cy="4754880"/>
          </a:xfrm>
          <a:prstGeom prst="rect">
            <a:avLst/>
          </a:prstGeom>
          <a:solidFill>
            <a:srgbClr val="F6F8FA"/>
          </a:solidFill>
        </p:spPr>
        <p:txBody>
          <a:bodyPr wrap="square" lIns="101600" rIns="101600" tIns="101600" bIns="101600">
            <a:spAutoFit/>
          </a:bodyPr>
          <a:lstStyle/>
          <a:p>
            <a:r>
              <a:rPr sz="1100">
                <a:latin typeface="Consolas"/>
              </a:rPr>
              <a:t>        sql_raw = _fallback_sql(question) or (</a:t>
            </a:r>
          </a:p>
          <a:p>
            <a:r>
              <a:rPr sz="1100">
                <a:latin typeface="Consolas"/>
              </a:rPr>
              <a:t>            "SELECT 'unanswerable_with_fallback_parser' AS note"</a:t>
            </a:r>
          </a:p>
          <a:p>
            <a:r>
              <a:rPr sz="1100">
                <a:latin typeface="Consolas"/>
              </a:rPr>
              <a:t>        )</a:t>
            </a:r>
          </a:p>
          <a:p>
            <a:r>
              <a:rPr sz="1100">
                <a:latin typeface="Consolas"/>
              </a:rPr>
              <a:t>    else:</a:t>
            </a:r>
          </a:p>
          <a:p>
            <a:r>
              <a:rPr sz="1100">
                <a:latin typeface="Consolas"/>
              </a:rPr>
              <a:t>        try:</a:t>
            </a:r>
          </a:p>
          <a:p>
            <a:r>
              <a:rPr sz="1100">
                <a:latin typeface="Consolas"/>
              </a:rPr>
              <a:t>            client = get_client()</a:t>
            </a:r>
          </a:p>
          <a:p>
            <a:r>
              <a:rPr sz="1100">
                <a:latin typeface="Consolas"/>
              </a:rPr>
              <a:t>            llm_text = client.chat(build_messages(schema, question))</a:t>
            </a:r>
          </a:p>
          <a:p>
            <a:r>
              <a:rPr sz="1100">
                <a:latin typeface="Consolas"/>
              </a:rPr>
              <a:t>            sql_raw = _extract_json_sql(llm_text)</a:t>
            </a:r>
          </a:p>
          <a:p>
            <a:r>
              <a:rPr sz="1100">
                <a:latin typeface="Consolas"/>
              </a:rPr>
              <a:t>        except (LLMUnavailable, Exception):</a:t>
            </a:r>
          </a:p>
          <a:p>
            <a:r>
              <a:rPr sz="1100">
                <a:latin typeface="Consolas"/>
              </a:rPr>
              <a:t>            # LLM died -- use the deterministic parser instead of giving up.</a:t>
            </a:r>
          </a:p>
          <a:p>
            <a:r>
              <a:rPr sz="1100">
                <a:latin typeface="Consolas"/>
              </a:rPr>
              <a:t>            used_fallback = True</a:t>
            </a:r>
          </a:p>
          <a:p>
            <a:r>
              <a:rPr sz="1100">
                <a:latin typeface="Consolas"/>
              </a:rPr>
              <a:t>            provider = "fallback"</a:t>
            </a:r>
          </a:p>
          <a:p>
            <a:r>
              <a:rPr sz="1100">
                <a:latin typeface="Consolas"/>
              </a:rPr>
              <a:t>            sql_raw = _fallback_sql(question) or (</a:t>
            </a:r>
          </a:p>
          <a:p>
            <a:r>
              <a:rPr sz="1100">
                <a:latin typeface="Consolas"/>
              </a:rPr>
              <a:t>                "SELECT 'llm_failed_and_no_fallback_match' AS note"</a:t>
            </a:r>
          </a:p>
          <a:p>
            <a:r>
              <a:rPr sz="1100">
                <a:latin typeface="Consolas"/>
              </a:rPr>
              <a:t>            )</a:t>
            </a:r>
          </a:p>
          <a:p/>
          <a:p>
            <a:r>
              <a:rPr sz="1100">
                <a:latin typeface="Consolas"/>
              </a:rPr>
              <a:t>    validation = validate_and_harden(sql_raw)</a:t>
            </a:r>
          </a:p>
          <a:p>
            <a:r>
              <a:rPr sz="1100">
                <a:latin typeface="Consolas"/>
              </a:rPr>
              <a:t>    if not validation.ok:</a:t>
            </a:r>
          </a:p>
          <a:p>
            <a:r>
              <a:rPr sz="1100">
                <a:latin typeface="Consolas"/>
              </a:rPr>
              <a:t>        return AgentAnswer(</a:t>
            </a:r>
          </a:p>
          <a:p>
            <a:r>
              <a:rPr sz="1100">
                <a:latin typeface="Consolas"/>
              </a:rPr>
              <a:t>            question=question,</a:t>
            </a:r>
          </a:p>
          <a:p>
            <a:r>
              <a:rPr sz="1100">
                <a:latin typeface="Consolas"/>
              </a:rPr>
              <a:t>            sql=sql_raw,</a:t>
            </a:r>
          </a:p>
          <a:p>
            <a:r>
              <a:rPr sz="1100">
                <a:latin typeface="Consolas"/>
              </a:rPr>
              <a:t>            rows=[],</a:t>
            </a:r>
          </a:p>
          <a:p>
            <a:r>
              <a:rPr sz="1100">
                <a:latin typeface="Consolas"/>
              </a:rPr>
              <a:t>            answer=f"I rejected the generated SQL: {validation.reason}",</a:t>
            </a:r>
          </a:p>
          <a:p>
            <a:r>
              <a:rPr sz="1100">
                <a:latin typeface="Consolas"/>
              </a:rPr>
              <a:t>            provider=provider,</a:t>
            </a:r>
          </a:p>
          <a:p>
            <a:r>
              <a:rPr sz="1100">
                <a:latin typeface="Consolas"/>
              </a:rPr>
              <a:t>            used_fallback=used_fallback,</a:t>
            </a:r>
          </a:p>
          <a:p>
            <a:r>
              <a:rPr sz="1100">
                <a:latin typeface="Consolas"/>
              </a:rPr>
              <a:t>            error=validation.reason,</a:t>
            </a:r>
          </a:p>
          <a:p>
            <a:r>
              <a:rPr sz="1100">
                <a:latin typeface="Consolas"/>
              </a:rPr>
              <a:t>        )</a:t>
            </a:r>
          </a:p>
          <a:p/>
          <a:p>
            <a:r>
              <a:rPr sz="1100">
                <a:latin typeface="Consolas"/>
              </a:rPr>
              <a:t>    try:</a:t>
            </a:r>
          </a:p>
          <a:p>
            <a:r>
              <a:rPr sz="1100">
                <a:latin typeface="Consolas"/>
              </a:rPr>
              <a:t>        with open_connection() as conn:</a:t>
            </a:r>
          </a:p>
          <a:p>
            <a:r>
              <a:rPr sz="1100">
                <a:latin typeface="Consolas"/>
              </a:rPr>
              <a:t>            df = pd.read_sql_query(validation.sql, conn)</a:t>
            </a:r>
          </a:p>
          <a:p>
            <a:r>
              <a:rPr sz="1100">
                <a:latin typeface="Consolas"/>
              </a:rPr>
              <a:t>    except sqlite3.Error as e:</a:t>
            </a:r>
          </a:p>
          <a:p>
            <a:r>
              <a:rPr sz="1100">
                <a:latin typeface="Consolas"/>
              </a:rPr>
              <a:t>        return AgentAnswer(</a:t>
            </a:r>
          </a:p>
          <a:p>
            <a:r>
              <a:rPr sz="1100">
                <a:latin typeface="Consolas"/>
              </a:rPr>
              <a:t>            question=question,</a:t>
            </a:r>
          </a:p>
          <a:p>
            <a:r>
              <a:rPr sz="1100">
                <a:latin typeface="Consolas"/>
              </a:rPr>
              <a:t>            sql=validation.sql,</a:t>
            </a:r>
          </a:p>
          <a:p>
            <a:r>
              <a:rPr sz="1100">
                <a:latin typeface="Consolas"/>
              </a:rPr>
              <a:t>            rows=[],</a:t>
            </a:r>
          </a:p>
          <a:p>
            <a:r>
              <a:rPr sz="1100">
                <a:latin typeface="Consolas"/>
              </a:rPr>
              <a:t>            answer=f"SQL execution failed: {e}",</a:t>
            </a:r>
          </a:p>
          <a:p>
            <a:r>
              <a:rPr sz="1100">
                <a:latin typeface="Consolas"/>
              </a:rPr>
              <a:t>            provider=provider,</a:t>
            </a:r>
          </a:p>
          <a:p>
            <a:r>
              <a:rPr sz="1100">
                <a:latin typeface="Consolas"/>
              </a:rPr>
              <a:t>            used_fallback=used_fallback,</a:t>
            </a:r>
          </a:p>
          <a:p>
            <a:r>
              <a:rPr sz="1100">
                <a:latin typeface="Consolas"/>
              </a:rPr>
              <a:t>            error=str(e),</a:t>
            </a:r>
          </a:p>
          <a:p>
            <a:r>
              <a:rPr sz="1100">
                <a:latin typeface="Consolas"/>
              </a:rPr>
              <a:t>        )</a:t>
            </a:r>
          </a:p>
          <a:p/>
          <a:p>
            <a:r>
              <a:rPr sz="1100">
                <a:latin typeface="Consolas"/>
              </a:rPr>
              <a:t>    summary = _summarise(question, validation.sql, df, provider)</a:t>
            </a:r>
          </a:p>
          <a:p>
            <a:r>
              <a:rPr sz="1100">
                <a:latin typeface="Consolas"/>
              </a:rPr>
              <a:t>    return AgentAnswer(</a:t>
            </a:r>
          </a:p>
          <a:p>
            <a:r>
              <a:rPr sz="1100">
                <a:latin typeface="Consolas"/>
              </a:rPr>
              <a:t>        question=question,</a:t>
            </a:r>
          </a:p>
          <a:p>
            <a:r>
              <a:rPr sz="1100">
                <a:latin typeface="Consolas"/>
              </a:rPr>
              <a:t>        sql=validation.sql,</a:t>
            </a:r>
          </a:p>
          <a:p>
            <a:r>
              <a:rPr sz="1100">
                <a:latin typeface="Consolas"/>
              </a:rPr>
              <a:t>        rows=df.to_dict(orient="records"),</a:t>
            </a:r>
          </a:p>
          <a:p>
            <a:r>
              <a:rPr sz="1100">
                <a:latin typeface="Consolas"/>
              </a:rPr>
              <a:t>        answer=summary,</a:t>
            </a:r>
          </a:p>
          <a:p>
            <a:r>
              <a:rPr sz="1100">
                <a:latin typeface="Consolas"/>
              </a:rPr>
              <a:t>        provider=provider,</a:t>
            </a:r>
          </a:p>
          <a:p>
            <a:r>
              <a:rPr sz="1100">
                <a:latin typeface="Consolas"/>
              </a:rPr>
              <a:t>        used_fallback=used_fallback,</a:t>
            </a:r>
          </a:p>
          <a:p>
            <a:r>
              <a:rPr sz="1100">
                <a:latin typeface="Consolas"/>
              </a:rPr>
              <a:t>    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F77B4"/>
                </a:solidFill>
              </a:rPr>
              <a:t>Backend · SQL Safety (src/utils/sql_safety.py)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555555"/>
                </a:solidFill>
              </a:rPr>
              <a:t>Single SELECT, table allowlist, blocked keyword list, automatic LIMIT cap. The chatbot cannot mutate data even if the LLM goes off-script.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77295" cy="4754880"/>
          </a:xfrm>
          <a:prstGeom prst="rect">
            <a:avLst/>
          </a:prstGeom>
          <a:solidFill>
            <a:srgbClr val="F6F8FA"/>
          </a:solidFill>
        </p:spPr>
        <p:txBody>
          <a:bodyPr wrap="square" lIns="101600" rIns="101600" tIns="101600" bIns="101600">
            <a:spAutoFit/>
          </a:bodyPr>
          <a:lstStyle/>
          <a:p>
            <a:r>
              <a:rPr sz="1100">
                <a:latin typeface="Consolas"/>
              </a:rPr>
              <a:t>    r"\bpragma\b",</a:t>
            </a:r>
          </a:p>
          <a:p>
            <a:r>
              <a:rPr sz="1100">
                <a:latin typeface="Consolas"/>
              </a:rPr>
              <a:t>    r"\bvacuum\b",</a:t>
            </a:r>
          </a:p>
          <a:p>
            <a:r>
              <a:rPr sz="1100">
                <a:latin typeface="Consolas"/>
              </a:rPr>
              <a:t>    r"\bload_extension\b",</a:t>
            </a:r>
          </a:p>
          <a:p>
            <a:r>
              <a:rPr sz="1100">
                <a:latin typeface="Consolas"/>
              </a:rPr>
              <a:t>    r"\b\.shell\b",</a:t>
            </a:r>
          </a:p>
          <a:p>
            <a:r>
              <a:rPr sz="1100">
                <a:latin typeface="Consolas"/>
              </a:rPr>
              <a:t>    r"\b\.system\b",</a:t>
            </a:r>
          </a:p>
          <a:p>
            <a:r>
              <a:rPr sz="1100">
                <a:latin typeface="Consolas"/>
              </a:rPr>
              <a:t>]</a:t>
            </a:r>
          </a:p>
          <a:p>
            <a:r>
              <a:rPr sz="1100">
                <a:latin typeface="Consolas"/>
              </a:rPr>
              <a:t>MAX_ROWS = 200</a:t>
            </a:r>
          </a:p>
          <a:p/>
          <a:p/>
          <a:p>
            <a:r>
              <a:rPr sz="1100">
                <a:latin typeface="Consolas"/>
              </a:rPr>
              <a:t>@dataclass</a:t>
            </a:r>
          </a:p>
          <a:p>
            <a:r>
              <a:rPr sz="1100">
                <a:latin typeface="Consolas"/>
              </a:rPr>
              <a:t>class SqlValidation:</a:t>
            </a:r>
          </a:p>
          <a:p>
            <a:r>
              <a:rPr sz="1100">
                <a:latin typeface="Consolas"/>
              </a:rPr>
              <a:t>    ok: bool</a:t>
            </a:r>
          </a:p>
          <a:p>
            <a:r>
              <a:rPr sz="1100">
                <a:latin typeface="Consolas"/>
              </a:rPr>
              <a:t>    sql: str</a:t>
            </a:r>
          </a:p>
          <a:p>
            <a:r>
              <a:rPr sz="1100">
                <a:latin typeface="Consolas"/>
              </a:rPr>
              <a:t>    reason: str = ""</a:t>
            </a:r>
          </a:p>
          <a:p/>
          <a:p/>
          <a:p>
            <a:r>
              <a:rPr sz="1100">
                <a:latin typeface="Consolas"/>
              </a:rPr>
              <a:t>def validate_and_harden(sql):</a:t>
            </a:r>
          </a:p>
          <a:p>
            <a:r>
              <a:rPr sz="1100">
                <a:latin typeface="Consolas"/>
              </a:rPr>
              <a:t>    raw = sql.strip().rstrip(";").strip()</a:t>
            </a:r>
          </a:p>
          <a:p>
            <a:r>
              <a:rPr sz="1100">
                <a:latin typeface="Consolas"/>
              </a:rPr>
              <a:t>    if not raw:</a:t>
            </a:r>
          </a:p>
          <a:p>
            <a:r>
              <a:rPr sz="1100">
                <a:latin typeface="Consolas"/>
              </a:rPr>
              <a:t>        return SqlValidation(False, "", "Empty SQL.")</a:t>
            </a:r>
          </a:p>
          <a:p/>
          <a:p>
            <a:r>
              <a:rPr sz="1100">
                <a:latin typeface="Consolas"/>
              </a:rPr>
              <a:t>    if ";" in raw:</a:t>
            </a:r>
          </a:p>
          <a:p>
            <a:r>
              <a:rPr sz="1100">
                <a:latin typeface="Consolas"/>
              </a:rPr>
              <a:t>        return SqlValidation(False, raw, "Multiple statements are not allowed.")</a:t>
            </a:r>
          </a:p>
          <a:p/>
          <a:p>
            <a:r>
              <a:rPr sz="1100">
                <a:latin typeface="Consolas"/>
              </a:rPr>
              <a:t>    lowered = raw.lower()</a:t>
            </a:r>
          </a:p>
          <a:p>
            <a:r>
              <a:rPr sz="1100">
                <a:latin typeface="Consolas"/>
              </a:rPr>
              <a:t>    for pat in FORBIDDEN_PATTERNS:</a:t>
            </a:r>
          </a:p>
          <a:p>
            <a:r>
              <a:rPr sz="1100">
                <a:latin typeface="Consolas"/>
              </a:rPr>
              <a:t>        if re.search(pat, lowered):</a:t>
            </a:r>
          </a:p>
          <a:p>
            <a:r>
              <a:rPr sz="1100">
                <a:latin typeface="Consolas"/>
              </a:rPr>
              <a:t>            return SqlValidation(False, raw, f"Forbidden keyword detected ({pat}).")</a:t>
            </a:r>
          </a:p>
          <a:p/>
          <a:p>
            <a:r>
              <a:rPr sz="1100">
                <a:latin typeface="Consolas"/>
              </a:rPr>
              <a:t>    parsed = sqlparse.parse(raw)</a:t>
            </a:r>
          </a:p>
          <a:p>
            <a:r>
              <a:rPr sz="1100">
                <a:latin typeface="Consolas"/>
              </a:rPr>
              <a:t>    if len(parsed) != 1:</a:t>
            </a:r>
          </a:p>
          <a:p>
            <a:r>
              <a:rPr sz="1100">
                <a:latin typeface="Consolas"/>
              </a:rPr>
              <a:t>        return SqlValidation(False, raw, "Exactly one statement is required.")</a:t>
            </a:r>
          </a:p>
          <a:p/>
          <a:p>
            <a:r>
              <a:rPr sz="1100">
                <a:latin typeface="Consolas"/>
              </a:rPr>
              <a:t>    first_token = parsed[0].token_first(skip_ws=True, skip_cm=True)</a:t>
            </a:r>
          </a:p>
          <a:p>
            <a:r>
              <a:rPr sz="1100">
                <a:latin typeface="Consolas"/>
              </a:rPr>
              <a:t>    if first_token is None:</a:t>
            </a:r>
          </a:p>
          <a:p>
            <a:r>
              <a:rPr sz="1100">
                <a:latin typeface="Consolas"/>
              </a:rPr>
              <a:t>        return SqlValidation(False, raw, "Could not parse SQL.")</a:t>
            </a:r>
          </a:p>
          <a:p/>
          <a:p>
            <a:r>
              <a:rPr sz="1100">
                <a:latin typeface="Consolas"/>
              </a:rPr>
              <a:t>    head = first_token.normalized.upper()</a:t>
            </a:r>
          </a:p>
          <a:p>
            <a:r>
              <a:rPr sz="1100">
                <a:latin typeface="Consolas"/>
              </a:rPr>
              <a:t>    if head not in {"SELECT", "WITH"}:</a:t>
            </a:r>
          </a:p>
          <a:p>
            <a:r>
              <a:rPr sz="1100">
                <a:latin typeface="Consolas"/>
              </a:rPr>
              <a:t>        return SqlValidation(False, raw, "Only SELECT/WITH queries are permitted.")</a:t>
            </a:r>
          </a:p>
          <a:p/>
          <a:p>
            <a:r>
              <a:rPr sz="1100">
                <a:latin typeface="Consolas"/>
              </a:rPr>
              <a:t>    # Recognise CTE aliases so `WITH t AS (...) SELECT * FROM t` works.</a:t>
            </a:r>
          </a:p>
          <a:p>
            <a:r>
              <a:rPr sz="1100">
                <a:latin typeface="Consolas"/>
              </a:rPr>
              <a:t>    cte_aliases = set(</a:t>
            </a:r>
          </a:p>
          <a:p>
            <a:r>
              <a:rPr sz="1100">
                <a:latin typeface="Consolas"/>
              </a:rPr>
              <a:t>        re.findall(r"\b([a-zA-Z_][a-zA-Z0-9_]*)\s+as\s*\(", lowered)</a:t>
            </a:r>
          </a:p>
          <a:p>
            <a:r>
              <a:rPr sz="1100">
                <a:latin typeface="Consolas"/>
              </a:rPr>
              <a:t>    )</a:t>
            </a:r>
          </a:p>
          <a:p>
            <a:r>
              <a:rPr sz="1100">
                <a:latin typeface="Consolas"/>
              </a:rPr>
              <a:t>    table_refs = set(re.findall(r"\bfrom\s+([a-zA-Z_][a-zA-Z0-9_]*)", lowered))</a:t>
            </a:r>
          </a:p>
          <a:p>
            <a:r>
              <a:rPr sz="1100">
                <a:latin typeface="Consolas"/>
              </a:rPr>
              <a:t>    table_refs |= set(re.findall(r"\bjoin\s+([a-zA-Z_][a-zA-Z0-9_]*)", lowered))</a:t>
            </a:r>
          </a:p>
          <a:p>
            <a:r>
              <a:rPr sz="1100">
                <a:latin typeface="Consolas"/>
              </a:rPr>
              <a:t>    unknown = table_refs - ALLOWED_TABLES - cte_aliases</a:t>
            </a:r>
          </a:p>
          <a:p>
            <a:r>
              <a:rPr sz="1100">
                <a:latin typeface="Consolas"/>
              </a:rPr>
              <a:t>    if unknown:</a:t>
            </a:r>
          </a:p>
          <a:p>
            <a:r>
              <a:rPr sz="1100">
                <a:latin typeface="Consolas"/>
              </a:rPr>
              <a:t>        return SqlValidation(</a:t>
            </a:r>
          </a:p>
          <a:p>
            <a:r>
              <a:rPr sz="1100">
                <a:latin typeface="Consolas"/>
              </a:rPr>
              <a:t>            False, raw, f"Reference to disallowed table(s): {sorted(unknown)}"</a:t>
            </a:r>
          </a:p>
          <a:p>
            <a:r>
              <a:rPr sz="1100">
                <a:latin typeface="Consolas"/>
              </a:rPr>
              <a:t>        )</a:t>
            </a:r>
          </a:p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F77B4"/>
                </a:solidFill>
              </a:rPr>
              <a:t>Backend · Multi-Provider LLM Client (src/llm/client.py)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555555"/>
                </a:solidFill>
              </a:rPr>
              <a:t>Auto-detects OpenAI / Groq / Gemini based on whichever API key is set; gracefully falls back to a deterministic parser.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77295" cy="4754880"/>
          </a:xfrm>
          <a:prstGeom prst="rect">
            <a:avLst/>
          </a:prstGeom>
          <a:solidFill>
            <a:srgbClr val="F6F8FA"/>
          </a:solidFill>
        </p:spPr>
        <p:txBody>
          <a:bodyPr wrap="square" lIns="101600" rIns="101600" tIns="101600" bIns="101600">
            <a:spAutoFit/>
          </a:bodyPr>
          <a:lstStyle/>
          <a:p>
            <a:r>
              <a:rPr sz="1100">
                <a:latin typeface="Consolas"/>
              </a:rPr>
              <a:t>        from openai import OpenAI</a:t>
            </a:r>
          </a:p>
          <a:p>
            <a:r>
              <a:rPr sz="1100">
                <a:latin typeface="Consolas"/>
              </a:rPr>
              <a:t>        self._client = OpenAI(</a:t>
            </a:r>
          </a:p>
          <a:p>
            <a:r>
              <a:rPr sz="1100">
                <a:latin typeface="Consolas"/>
              </a:rPr>
              <a:t>            api_key=SETTINGS.openai_api_key,</a:t>
            </a:r>
          </a:p>
          <a:p>
            <a:r>
              <a:rPr sz="1100">
                <a:latin typeface="Consolas"/>
              </a:rPr>
              <a:t>            timeout=SETTINGS.llm_timeout_seconds,</a:t>
            </a:r>
          </a:p>
          <a:p>
            <a:r>
              <a:rPr sz="1100">
                <a:latin typeface="Consolas"/>
              </a:rPr>
              <a:t>        )</a:t>
            </a:r>
          </a:p>
          <a:p/>
          <a:p>
            <a:r>
              <a:rPr sz="1100">
                <a:latin typeface="Consolas"/>
              </a:rPr>
              <a:t>    @retry(stop=stop_after_attempt(2), wait=wait_exponential_jitter(initial=1, max=4))</a:t>
            </a:r>
          </a:p>
          <a:p>
            <a:r>
              <a:rPr sz="1100">
                <a:latin typeface="Consolas"/>
              </a:rPr>
              <a:t>    def chat(self, messages):</a:t>
            </a:r>
          </a:p>
          <a:p>
            <a:r>
              <a:rPr sz="1100">
                <a:latin typeface="Consolas"/>
              </a:rPr>
              <a:t>        resp = self._client.chat.completions.create(</a:t>
            </a:r>
          </a:p>
          <a:p>
            <a:r>
              <a:rPr sz="1100">
                <a:latin typeface="Consolas"/>
              </a:rPr>
              <a:t>            model=SETTINGS.openai_model,</a:t>
            </a:r>
          </a:p>
          <a:p>
            <a:r>
              <a:rPr sz="1100">
                <a:latin typeface="Consolas"/>
              </a:rPr>
              <a:t>            messages=messages,</a:t>
            </a:r>
          </a:p>
          <a:p>
            <a:r>
              <a:rPr sz="1100">
                <a:latin typeface="Consolas"/>
              </a:rPr>
              <a:t>            temperature=SETTINGS.llm_temperature,</a:t>
            </a:r>
          </a:p>
          <a:p>
            <a:r>
              <a:rPr sz="1100">
                <a:latin typeface="Consolas"/>
              </a:rPr>
              <a:t>            max_tokens=SETTINGS.llm_max_tokens,</a:t>
            </a:r>
          </a:p>
          <a:p>
            <a:r>
              <a:rPr sz="1100">
                <a:latin typeface="Consolas"/>
              </a:rPr>
              <a:t>        )</a:t>
            </a:r>
          </a:p>
          <a:p>
            <a:r>
              <a:rPr sz="1100">
                <a:latin typeface="Consolas"/>
              </a:rPr>
              <a:t>        return (resp.choices[0].message.content or "").strip()</a:t>
            </a:r>
          </a:p>
          <a:p/>
          <a:p/>
          <a:p>
            <a:r>
              <a:rPr sz="1100">
                <a:latin typeface="Consolas"/>
              </a:rPr>
              <a:t>class _GroqClient(_BaseClient):</a:t>
            </a:r>
          </a:p>
          <a:p>
            <a:r>
              <a:rPr sz="1100">
                <a:latin typeface="Consolas"/>
              </a:rPr>
              <a:t>    name = "groq"</a:t>
            </a:r>
          </a:p>
          <a:p/>
          <a:p>
            <a:r>
              <a:rPr sz="1100">
                <a:latin typeface="Consolas"/>
              </a:rPr>
              <a:t>    def __init__(self):</a:t>
            </a:r>
          </a:p>
          <a:p>
            <a:r>
              <a:rPr sz="1100">
                <a:latin typeface="Consolas"/>
              </a:rPr>
              <a:t>        from groq import Groq</a:t>
            </a:r>
          </a:p>
          <a:p>
            <a:r>
              <a:rPr sz="1100">
                <a:latin typeface="Consolas"/>
              </a:rPr>
              <a:t>        self._client = Groq(</a:t>
            </a:r>
          </a:p>
          <a:p>
            <a:r>
              <a:rPr sz="1100">
                <a:latin typeface="Consolas"/>
              </a:rPr>
              <a:t>            api_key=SETTINGS.groq_api_key,</a:t>
            </a:r>
          </a:p>
          <a:p>
            <a:r>
              <a:rPr sz="1100">
                <a:latin typeface="Consolas"/>
              </a:rPr>
              <a:t>            timeout=SETTINGS.llm_timeout_seconds,</a:t>
            </a:r>
          </a:p>
          <a:p>
            <a:r>
              <a:rPr sz="1100">
                <a:latin typeface="Consolas"/>
              </a:rPr>
              <a:t>        )</a:t>
            </a:r>
          </a:p>
          <a:p/>
          <a:p>
            <a:r>
              <a:rPr sz="1100">
                <a:latin typeface="Consolas"/>
              </a:rPr>
              <a:t>    @retry(stop=stop_after_attempt(2), wait=wait_exponential_jitter(initial=1, max=4))</a:t>
            </a:r>
          </a:p>
          <a:p>
            <a:r>
              <a:rPr sz="1100">
                <a:latin typeface="Consolas"/>
              </a:rPr>
              <a:t>    def chat(self, messages):</a:t>
            </a:r>
          </a:p>
          <a:p>
            <a:r>
              <a:rPr sz="1100">
                <a:latin typeface="Consolas"/>
              </a:rPr>
              <a:t>        resp = self._client.chat.completions.create(</a:t>
            </a:r>
          </a:p>
          <a:p>
            <a:r>
              <a:rPr sz="1100">
                <a:latin typeface="Consolas"/>
              </a:rPr>
              <a:t>            model=SETTINGS.groq_model,</a:t>
            </a:r>
          </a:p>
          <a:p>
            <a:r>
              <a:rPr sz="1100">
                <a:latin typeface="Consolas"/>
              </a:rPr>
              <a:t>            messages=messages,</a:t>
            </a:r>
          </a:p>
          <a:p>
            <a:r>
              <a:rPr sz="1100">
                <a:latin typeface="Consolas"/>
              </a:rPr>
              <a:t>            temperature=SETTINGS.llm_temperature,</a:t>
            </a:r>
          </a:p>
          <a:p>
            <a:r>
              <a:rPr sz="1100">
                <a:latin typeface="Consolas"/>
              </a:rPr>
              <a:t>            max_tokens=SETTINGS.llm_max_tokens,</a:t>
            </a:r>
          </a:p>
          <a:p>
            <a:r>
              <a:rPr sz="1100">
                <a:latin typeface="Consolas"/>
              </a:rPr>
              <a:t>        )</a:t>
            </a:r>
          </a:p>
          <a:p>
            <a:r>
              <a:rPr sz="1100">
                <a:latin typeface="Consolas"/>
              </a:rPr>
              <a:t>        return (resp.choices[0].message.content or "").strip()</a:t>
            </a:r>
          </a:p>
          <a:p/>
          <a:p/>
          <a:p>
            <a:r>
              <a:rPr sz="1100">
                <a:latin typeface="Consolas"/>
              </a:rPr>
              <a:t>class _GeminiClient(_BaseClient):</a:t>
            </a:r>
          </a:p>
          <a:p>
            <a:r>
              <a:rPr sz="1100">
                <a:latin typeface="Consolas"/>
              </a:rPr>
              <a:t>    name = "gemini"</a:t>
            </a:r>
          </a:p>
          <a:p/>
          <a:p>
            <a:r>
              <a:rPr sz="1100">
                <a:latin typeface="Consolas"/>
              </a:rPr>
              <a:t>    def __init__(self):</a:t>
            </a:r>
          </a:p>
          <a:p>
            <a:r>
              <a:rPr sz="1100">
                <a:latin typeface="Consolas"/>
              </a:rPr>
              <a:t>        import google.generativeai as genai</a:t>
            </a:r>
          </a:p>
          <a:p>
            <a:r>
              <a:rPr sz="1100">
                <a:latin typeface="Consolas"/>
              </a:rPr>
              <a:t>        genai.configure(api_key=SETTINGS.gemini_api_key)</a:t>
            </a:r>
          </a:p>
          <a:p>
            <a:r>
              <a:rPr sz="1100">
                <a:latin typeface="Consolas"/>
              </a:rPr>
              <a:t>        self._model = genai.GenerativeModel(SETTINGS.gemini_model)</a:t>
            </a:r>
          </a:p>
          <a:p/>
          <a:p>
            <a:r>
              <a:rPr sz="1100">
                <a:latin typeface="Consolas"/>
              </a:rPr>
              <a:t>    @retry(stop=stop_after_attempt(2), wait=wait_exponential_jitter(initial=1, max=4))</a:t>
            </a:r>
          </a:p>
          <a:p>
            <a:r>
              <a:rPr sz="1100">
                <a:latin typeface="Consolas"/>
              </a:rPr>
              <a:t>    def chat(self, messages):</a:t>
            </a:r>
          </a:p>
          <a:p>
            <a:r>
              <a:rPr sz="1100">
                <a:latin typeface="Consolas"/>
              </a:rPr>
              <a:t>        # Gemini has no system role - merge into the user prompt.</a:t>
            </a:r>
          </a:p>
          <a:p>
            <a:r>
              <a:rPr sz="1100">
                <a:latin typeface="Consolas"/>
              </a:rPr>
              <a:t>        sys_parts = [m["content"] for m in messages if m["role"] == "system"]</a:t>
            </a:r>
          </a:p>
          <a:p>
            <a:r>
              <a:rPr sz="1100">
                <a:latin typeface="Consolas"/>
              </a:rPr>
              <a:t>        usr_parts = [m["content"] for m in messages if m["role"] != "system"]</a:t>
            </a:r>
          </a:p>
          <a:p>
            <a:r>
              <a:rPr sz="1100">
                <a:latin typeface="Consolas"/>
              </a:rPr>
              <a:t>        prompt = ("\n\n".join(sys_parts) + "\n\n" + "\n\n".join(usr_parts)).strip()</a:t>
            </a:r>
          </a:p>
          <a:p>
            <a:r>
              <a:rPr sz="1100">
                <a:latin typeface="Consolas"/>
              </a:rPr>
              <a:t>        resp = self._model.generate_content(</a:t>
            </a:r>
          </a:p>
          <a:p>
            <a:r>
              <a:rPr sz="1100">
                <a:latin typeface="Consolas"/>
              </a:rPr>
              <a:t>            prompt,</a:t>
            </a:r>
          </a:p>
          <a:p>
            <a:r>
              <a:rPr sz="1100">
                <a:latin typeface="Consolas"/>
              </a:rPr>
              <a:t>            generation_config={</a:t>
            </a:r>
          </a:p>
          <a:p>
            <a:r>
              <a:rPr sz="1100">
                <a:latin typeface="Consolas"/>
              </a:rPr>
              <a:t>                "temperature": SETTINGS.llm_temperature,</a:t>
            </a:r>
          </a:p>
          <a:p>
            <a:r>
              <a:rPr sz="1100">
                <a:latin typeface="Consolas"/>
              </a:rPr>
              <a:t>                "max_output_tokens": SETTINGS.llm_max_tokens,</a:t>
            </a:r>
          </a:p>
          <a:p>
            <a:r>
              <a:rPr sz="1100">
                <a:latin typeface="Consolas"/>
              </a:rPr>
              <a:t>            },</a:t>
            </a:r>
          </a:p>
          <a:p>
            <a:r>
              <a:rPr sz="1100">
                <a:latin typeface="Consolas"/>
              </a:rPr>
              <a:t>        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F77B4"/>
                </a:solidFill>
              </a:rPr>
              <a:t>Prompt Engineering &amp; Token Optimisation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/>
              <a:t>JSON-only output contract — model emits {"sql": "..."}; deterministic parsing.</a:t>
            </a:r>
          </a:p>
          <a:p>
            <a:r>
              <a:rPr sz="1800"/>
              <a:t>Pinned schema (~25 cols, 1-line descriptions) → no DB introspection round-trip.</a:t>
            </a:r>
          </a:p>
          <a:p>
            <a:r>
              <a:rPr sz="1800"/>
              <a:t>Few-shot kept tiny (4 examples) to anchor style without bloating context.</a:t>
            </a:r>
          </a:p>
          <a:p>
            <a:r>
              <a:rPr sz="1800"/>
              <a:t>Temperature 0; max 256 output tokens — SQL doesn't need prose.</a:t>
            </a:r>
          </a:p>
          <a:p>
            <a:r>
              <a:rPr sz="1800"/>
              <a:t>Static SQL safety: SELECT/WITH only, table allowlist, LIMIT cap, blocked keywords.</a:t>
            </a:r>
          </a:p>
          <a:p>
            <a:r>
              <a:rPr sz="1800"/>
              <a:t>Result-grounded summary prompt explicitly forbids invented numbers.</a:t>
            </a:r>
          </a:p>
          <a:p>
            <a:r>
              <a:rPr sz="1800"/>
              <a:t>Hard fallback: deterministic regex parser keeps the demo working offline.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F77B4"/>
                </a:solidFill>
              </a:rPr>
              <a:t>Evaluation Results (bundled 10k sample)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286000" y="1554480"/>
          <a:ext cx="75895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4760"/>
                <a:gridCol w="3794760"/>
              </a:tblGrid>
              <a:tr h="411480">
                <a:tc>
                  <a:txBody>
                    <a:bodyPr/>
                    <a:lstStyle/>
                    <a:p>
                      <a:r>
                        <a:rPr sz="16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Value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/>
                        <a:t>ROC-AUC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0.8952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/>
                        <a:t>PR-AUC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0.5109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/>
                        <a:t>KS Statistic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0.6571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/>
                        <a:t>F1 @ optimal threshold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0.3994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/>
                        <a:t>Optimal threshold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0.0631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/>
                        <a:t>Default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0.08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/>
                        <a:t>Train rows / Val 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8000 / 2000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F77B4"/>
                </a:solidFill>
              </a:rPr>
              <a:t>Top Derived Decision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/>
              <a:t>R1 · High · support 11.79% · default rate 66.72% · lift 8.34×</a:t>
            </a:r>
          </a:p>
          <a:p>
            <a:r>
              <a:rPr sz="1800"/>
              <a:t>R13 · High · support 6.86% · default rate 88.31% · lift 11.04×</a:t>
            </a:r>
          </a:p>
          <a:p>
            <a:r>
              <a:rPr sz="1800"/>
              <a:t>R8 · Medium · support 17.3% · default rate 24.71% · lift 3.09×</a:t>
            </a:r>
          </a:p>
          <a:p>
            <a:r>
              <a:rPr sz="1800"/>
              <a:t>R7 · High · support 5.79% · default rate 55.18% · lift 6.9×</a:t>
            </a:r>
          </a:p>
          <a:p>
            <a:r>
              <a:rPr sz="1800"/>
              <a:t>R9 · High · support 2.68% · default rate 79.95% · lift 9.99×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F77B4"/>
                </a:solidFill>
              </a:rPr>
              <a:t>How To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/>
              <a:t>git clone https://github.com/ashwani-dhayal/credit-risk-platform.git</a:t>
            </a:r>
          </a:p>
          <a:p>
            <a:r>
              <a:rPr sz="1800"/>
              <a:t>cd credit-risk-platform</a:t>
            </a:r>
          </a:p>
          <a:p>
            <a:r>
              <a:rPr sz="1800"/>
              <a:t>cp .env.example .env  # add ONE LLM key (optional)</a:t>
            </a:r>
          </a:p>
          <a:p>
            <a:r>
              <a:rPr sz="1800"/>
              <a:t>docker compose up --build</a:t>
            </a:r>
          </a:p>
          <a:p>
            <a:r>
              <a:rPr sz="1800"/>
              <a:t>→ open http://localhost:8501</a:t>
            </a:r>
          </a:p>
          <a:p>
            <a:r>
              <a:rPr sz="1800"/>
              <a:t>Local: python -m venv .venv ; pip install -r requirements.txt ; python scripts/train_model.py ; streamlit run app/streamlit_app.py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F77B4"/>
                </a:solidFill>
              </a:rPr>
              <a:t>Limitations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/>
              <a:t>Adding bureau / previous_application aggregates would lift AUC ~+0.03.</a:t>
            </a:r>
          </a:p>
          <a:p>
            <a:r>
              <a:rPr sz="1800"/>
              <a:t>No data-drift monitoring yet (Evidently / WhyLogs are obvious next steps).</a:t>
            </a:r>
          </a:p>
          <a:p>
            <a:r>
              <a:rPr sz="1800"/>
              <a:t>Single-tenant SQLite — switch to Postgres for multi-user concurrency.</a:t>
            </a:r>
          </a:p>
          <a:p>
            <a:r>
              <a:rPr sz="1800"/>
              <a:t>No UI auth — deploy behind a reverse proxy with auth in production.</a:t>
            </a:r>
          </a:p>
          <a:p>
            <a:r>
              <a:rPr sz="1800"/>
              <a:t>LLM cost cap is per-call only; daily quotas would need Redis-based limiting.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F77B4"/>
                </a:solidFill>
              </a:rP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/>
              <a:t>Repo: https://github.com/ashwani-dhayal/credit-risk-platform</a:t>
            </a:r>
          </a:p>
          <a:p>
            <a:r>
              <a:rPr sz="1800"/>
              <a:t>Author: Ashwani Dhayal</a:t>
            </a:r>
          </a:p>
          <a:p>
            <a:r>
              <a:rPr sz="1800"/>
              <a:t>Submission: NeoStats AI Engineer assignment.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